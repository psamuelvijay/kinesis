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(IoT &amp; Cyber Security including Blockchain Technology)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FB4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CAPSTONE-I PROJECT  •  ACCEPTANCE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Academic Year 2026 – 27 (Odd Semester)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Fraud-Resistant, Self-Sustaining Play-to-Earn &amp; Move-to-Earn Web3 Ecosystem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232C6B"/>
          </a:solidFill>
          <a:ln w="12700">
            <a:solidFill>
              <a:srgbClr val="2E3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61772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B4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956048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 Samuel Vijay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2451-23-749-051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Sriharsh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2451-23-749-060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232C6B"/>
          </a:solidFill>
          <a:ln w="12700">
            <a:solidFill>
              <a:srgbClr val="2E3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461772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B4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FACULTY GUIDE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807" y="4956175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P. Phani Prasad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Asst. Professor, Dept. of CSE - Allied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5953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457200" y="96012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DOMAIN: Blockchain Technology  •  Cross-functional: AI/ML, Web &amp; Mobile Development, Cyber Security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8521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30352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Move-to-earn and play-to-earn platforms (e.g. Sweatcoin, StepN) proved that blockchain rewards genuinely motivate real-world activity, but every major platform in this category has repeatedly failed on the same four fronts: token-value collapse once reward issuance outpaces real demand, trivial reward fraud through spoofed or bot-driven activity, poor onboarding accessibility for non-crypto-native users, and no transparent way for the platform to demonstrate how it sustains itself financially.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D7E2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681728"/>
            <a:ext cx="48463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“Kinesis aims to deliver a fraud-resistant, self-sustaining play-to-earn and move-to-earn Web3 ecosystem that solves token-value collapse, reward fraud, onboarding friction, and revenue opacity within a single integrated system.”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508760"/>
            <a:ext cx="510235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17373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21488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681228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2360" y="212140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Unsustainable Tokenomics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404872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Reward payouts outpace real token demand, causing rapid value collapse.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317296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6812280" y="3172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14553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Reward Fraud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34290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Bots and GPS-spoofers fake activity to farm rewards undetected.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4197096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/>
          <p:nvPr/>
        </p:nvSpPr>
        <p:spPr>
          <a:xfrm>
            <a:off x="6812280" y="41970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416966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Onboarding Friction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445312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must already own and understand crypto/gas before using the app.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5221224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4"/>
          <p:cNvSpPr/>
          <p:nvPr/>
        </p:nvSpPr>
        <p:spPr>
          <a:xfrm>
            <a:off x="6812280" y="52212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19379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Revenue Opacity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2360" y="5477256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transparent, verifiable way platforms sustain themselves financially.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Motivation &amp; Real-World Relevance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does this problem matter, at scale?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3619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$669.9M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move-to-earn fitness app market size (2024), growing at ~17.7% CAGR through 2030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86200" y="141732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53619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300K+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0" y="2084832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E4F4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StepN's peak daily active users within months of launch, before its token value later collapsed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417320"/>
            <a:ext cx="4416552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D7E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536192"/>
            <a:ext cx="3959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 a billion people walk daily, and roughly half a billion already use fitness-tracking apps — a genuinely mass-scale, recurring-use addressable base.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02152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1280160" y="344728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Financial Relevance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Gasless onboarding removes the single biggest real-world adoption barrier to consumer Web3 apps.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32461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502152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6967728" y="344728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 &amp; Societal Relevance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67728" y="379476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Activity-linked incentives encourage physical movement across a genuinely mass-scale user base.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148072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/>
          <p:nvPr/>
        </p:nvSpPr>
        <p:spPr>
          <a:xfrm>
            <a:off x="1280160" y="50932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Technological Relevance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Integrates blockchain, AI-driven fraud detection, and mobile sensing within one cohesive system.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48920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5148072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4"/>
          <p:cNvSpPr/>
          <p:nvPr/>
        </p:nvSpPr>
        <p:spPr>
          <a:xfrm>
            <a:off x="6967728" y="50932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Economic Relevance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67728" y="544068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Directly targets an unresolved, industry-wide problem: transparent, auditable platform revenue.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Survey &amp; Research Gap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05840"/>
          <a:ext cx="11274552" cy="361188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395935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Author / Year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Core Approach &amp; Finding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Limitation Relevant to Our Project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Yu et al. (2022)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SoK: Play-to-Earn Projects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arXiv:2211.01000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Systematic study of P2E economic and governance models; identifies token design, treasury mechanisms, and irregular issuance as core sustainability challenges.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Diagnoses tokenomics and fraud-adjacent challenges but proposes no concrete sink/faucet mechanism or fraud-detection solution.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Kim et al. (2023)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Tokenomics for NFTs in Game-Based Blockchain Networks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arXiv:2306.13672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Proposes an AMM-based reward-adjustment method to manage NFT inflation in P2E ecosystems.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Addresses NFT valuation and inflation only; does not consider user-activity or sensor-based fraud.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Chaitanya Anil et al. (2026)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Blockchain for Fraud Detection in Financial Transactions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Springer, ICCCT 2025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On-chain smart-contract risk-scoring model using transaction size, frequency, velocity, and KYC status for real-time fraud flagging.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Fraud scoring relies solely on on-chain transaction metadata; no fusion with off-chain physical or behavioural signals.</a:t>
                      </a:r>
                      <a:endParaRPr lang="en-US" sz="10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3152" marB="73152" anchor="t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892040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D7E2F4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32180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literature separately addresses P2E economic modelling, NFT token-inflation control, and on-chain-only fraud scoring — but no reviewed work integrates sustainable dual-token design with off-chain, phone-sensor-based fraud verification for activity-linked rewards. Kinesis extends this literature by fusing on-chain behavioural analysis with physical sensor plausibility checks within one sustainable, auditable system.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 &amp;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37744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246888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Layer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6550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 dApp + Mobile App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97480" y="237744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07208" y="246888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Backend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07208" y="3200400"/>
            <a:ext cx="16550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Orchestration Layer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0" y="237744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47488" y="246888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Verification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3200400"/>
            <a:ext cx="16550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E2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Behavioural Fingerprinting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78040" y="123444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87768" y="13258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Contracts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87768" y="2057400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E2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/ Staking / Treasury / DAO (Testnet)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78040" y="352044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87768" y="361188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Hyperledger Fabric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87768" y="4343400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E2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Immutable Audit Ledger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720072" y="23774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29800" y="24688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Dashboard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29800" y="3200400"/>
            <a:ext cx="1792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Balances, Results, Fraud Flags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31720" y="3017520"/>
            <a:ext cx="365760" cy="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3017520"/>
            <a:ext cx="365760" cy="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6812280" y="1874520"/>
            <a:ext cx="365760" cy="114300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12280" y="3017520"/>
            <a:ext cx="365760" cy="114300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72600" y="1874520"/>
            <a:ext cx="347472" cy="114300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372600" y="3017520"/>
            <a:ext cx="347472" cy="1143000"/>
          </a:xfrm>
          <a:prstGeom prst="line">
            <a:avLst/>
          </a:prstGeom>
          <a:noFill/>
          <a:ln w="22225">
            <a:solidFill>
              <a:srgbClr val="9AA7C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EF3FB"/>
          </a:solidFill>
          <a:ln w="12700">
            <a:solidFill>
              <a:srgbClr val="D7E2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public test-network smart contracts (payment/reward layer) and the permissioned Hyperledger Fabric ledger (audit layer) operate in parallel: every verified action triggers both a reward transaction and an immutable audit log, giving the system transparency without sacrificing tamper-evidence.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602736" cy="480060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3602736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</p:spPr>
      </p:sp>
      <p:sp>
        <p:nvSpPr>
          <p:cNvPr id="5" name="Shape 3"/>
          <p:cNvSpPr/>
          <p:nvPr/>
        </p:nvSpPr>
        <p:spPr>
          <a:xfrm>
            <a:off x="457200" y="1783080"/>
            <a:ext cx="3602736" cy="1371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40080" y="1143000"/>
            <a:ext cx="32369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Blockchain &amp; Smart Contracts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82296" cy="822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960120" y="2121408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Solidity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35224"/>
            <a:ext cx="82296" cy="822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960120" y="2779776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Polygon Amoy Testnet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93592"/>
            <a:ext cx="82296" cy="822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960120" y="3438144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Hyperledger Fabric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82296" cy="822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960120" y="4096512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Chainlink VRF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910328"/>
            <a:ext cx="82296" cy="822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960120" y="4754880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ERC-4337 (Account Abstraction)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88536" y="1143000"/>
            <a:ext cx="3602736" cy="480060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88536" y="1143000"/>
            <a:ext cx="3602736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</p:spPr>
      </p:sp>
      <p:sp>
        <p:nvSpPr>
          <p:cNvPr id="19" name="Shape 17"/>
          <p:cNvSpPr/>
          <p:nvPr/>
        </p:nvSpPr>
        <p:spPr>
          <a:xfrm>
            <a:off x="4288536" y="1783080"/>
            <a:ext cx="3602736" cy="1371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4471416" y="1143000"/>
            <a:ext cx="32369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&amp; Security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62856" y="2276856"/>
            <a:ext cx="82296" cy="8229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/>
          <p:nvPr/>
        </p:nvSpPr>
        <p:spPr>
          <a:xfrm>
            <a:off x="4791456" y="2121408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2856" y="2935224"/>
            <a:ext cx="82296" cy="8229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/>
          <p:nvPr/>
        </p:nvSpPr>
        <p:spPr>
          <a:xfrm>
            <a:off x="4791456" y="2779776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Scikit-learn / PyTorch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62856" y="3593592"/>
            <a:ext cx="82296" cy="8229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4"/>
          <p:cNvSpPr/>
          <p:nvPr/>
        </p:nvSpPr>
        <p:spPr>
          <a:xfrm>
            <a:off x="4791456" y="3438144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Behavioural Fingerprinting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62856" y="4251960"/>
            <a:ext cx="82296" cy="8229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8" name="Text 26"/>
          <p:cNvSpPr/>
          <p:nvPr/>
        </p:nvSpPr>
        <p:spPr>
          <a:xfrm>
            <a:off x="4791456" y="4096512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Accelerometer / Gyroscope / GPS Fusion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9872" y="1143000"/>
            <a:ext cx="3602736" cy="480060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1143000"/>
            <a:ext cx="3602736" cy="777240"/>
          </a:xfrm>
          <a:prstGeom prst="roundRect">
            <a:avLst>
              <a:gd name="adj" fmla="val 9412"/>
            </a:avLst>
          </a:prstGeom>
          <a:solidFill>
            <a:srgbClr val="3B4A94"/>
          </a:solidFill>
        </p:spPr>
      </p:sp>
      <p:sp>
        <p:nvSpPr>
          <p:cNvPr id="31" name="Shape 29"/>
          <p:cNvSpPr/>
          <p:nvPr/>
        </p:nvSpPr>
        <p:spPr>
          <a:xfrm>
            <a:off x="8119872" y="1783080"/>
            <a:ext cx="3602736" cy="137160"/>
          </a:xfrm>
          <a:prstGeom prst="rect">
            <a:avLst/>
          </a:prstGeom>
          <a:solidFill>
            <a:srgbClr val="3B4A94"/>
          </a:solidFill>
        </p:spPr>
      </p:sp>
      <p:sp>
        <p:nvSpPr>
          <p:cNvPr id="32" name="Text 30"/>
          <p:cNvSpPr/>
          <p:nvPr/>
        </p:nvSpPr>
        <p:spPr>
          <a:xfrm>
            <a:off x="8302752" y="1143000"/>
            <a:ext cx="32369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 Layer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394192" y="2276856"/>
            <a:ext cx="82296" cy="82296"/>
          </a:xfrm>
          <a:prstGeom prst="ellipse">
            <a:avLst/>
          </a:prstGeom>
          <a:solidFill>
            <a:srgbClr val="3B4A94"/>
          </a:solidFill>
        </p:spPr>
      </p:sp>
      <p:sp>
        <p:nvSpPr>
          <p:cNvPr id="34" name="Text 32"/>
          <p:cNvSpPr/>
          <p:nvPr/>
        </p:nvSpPr>
        <p:spPr>
          <a:xfrm>
            <a:off x="8622792" y="2121408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(Backend)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94192" y="2935224"/>
            <a:ext cx="82296" cy="82296"/>
          </a:xfrm>
          <a:prstGeom prst="ellipse">
            <a:avLst/>
          </a:prstGeom>
          <a:solidFill>
            <a:srgbClr val="3B4A94"/>
          </a:solidFill>
        </p:spPr>
      </p:sp>
      <p:sp>
        <p:nvSpPr>
          <p:cNvPr id="36" name="Text 34"/>
          <p:cNvSpPr/>
          <p:nvPr/>
        </p:nvSpPr>
        <p:spPr>
          <a:xfrm>
            <a:off x="8622792" y="2779776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/ Next.js (Web dApp)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94192" y="3593592"/>
            <a:ext cx="82296" cy="82296"/>
          </a:xfrm>
          <a:prstGeom prst="ellipse">
            <a:avLst/>
          </a:prstGeom>
          <a:solidFill>
            <a:srgbClr val="3B4A94"/>
          </a:solidFill>
        </p:spPr>
      </p:sp>
      <p:sp>
        <p:nvSpPr>
          <p:cNvPr id="38" name="Text 36"/>
          <p:cNvSpPr/>
          <p:nvPr/>
        </p:nvSpPr>
        <p:spPr>
          <a:xfrm>
            <a:off x="8622792" y="3438144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Native / Flutter (Mobile)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94192" y="4251960"/>
            <a:ext cx="82296" cy="82296"/>
          </a:xfrm>
          <a:prstGeom prst="ellipse">
            <a:avLst/>
          </a:prstGeom>
          <a:solidFill>
            <a:srgbClr val="3B4A94"/>
          </a:solidFill>
        </p:spPr>
      </p:sp>
      <p:sp>
        <p:nvSpPr>
          <p:cNvPr id="40" name="Text 38"/>
          <p:cNvSpPr/>
          <p:nvPr/>
        </p:nvSpPr>
        <p:spPr>
          <a:xfrm>
            <a:off x="8622792" y="4096512"/>
            <a:ext cx="282549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Docker (Deployment)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Planned Implementation &amp; Development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1264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4" name="Text 2"/>
          <p:cNvSpPr/>
          <p:nvPr/>
        </p:nvSpPr>
        <p:spPr>
          <a:xfrm>
            <a:off x="457200" y="89611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STATUS: PROPOSED — IMPLEMENTATION TO PROCEED IN CAPSTONE-II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3063240"/>
            <a:ext cx="9281160" cy="0"/>
          </a:xfrm>
          <a:prstGeom prst="line">
            <a:avLst/>
          </a:prstGeom>
          <a:noFill/>
          <a:ln w="25400">
            <a:solidFill>
              <a:srgbClr val="C7D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8072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807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dApp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88366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7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Wallet login, skill-based staking games, deployed on a public testnet.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463040" y="2560320"/>
            <a:ext cx="0" cy="502920"/>
          </a:xfrm>
          <a:prstGeom prst="line">
            <a:avLst/>
          </a:prstGeom>
          <a:noFill/>
          <a:ln w="15875">
            <a:solidFill>
              <a:srgbClr val="C7D2E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527298" y="28072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7298" y="2807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6893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60370" y="36118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Module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60370" y="394106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7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Move-to-earn app with background accelerometer / gyroscope / GPS capture.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783330" y="3063240"/>
            <a:ext cx="0" cy="457200"/>
          </a:xfrm>
          <a:prstGeom prst="line">
            <a:avLst/>
          </a:prstGeom>
          <a:noFill/>
          <a:ln w="15875">
            <a:solidFill>
              <a:srgbClr val="C7D2E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847588" y="28072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7588" y="2807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8922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80660" y="15544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Anti-Cheat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80660" y="188366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7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and integrate the behavioural fingerprinting fraud-scoring model.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103620" y="2560320"/>
            <a:ext cx="0" cy="502920"/>
          </a:xfrm>
          <a:prstGeom prst="line">
            <a:avLst/>
          </a:prstGeom>
          <a:noFill/>
          <a:ln w="15875">
            <a:solidFill>
              <a:srgbClr val="C7D2E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167878" y="28072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7878" y="2807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0951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00950" y="36118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Governance &amp; Audit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00950" y="394106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7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Hyperledger audit ledger, DAO voting, account abstraction, treasury contract.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423910" y="3063240"/>
            <a:ext cx="0" cy="457200"/>
          </a:xfrm>
          <a:prstGeom prst="line">
            <a:avLst/>
          </a:prstGeom>
          <a:noFill/>
          <a:ln w="15875">
            <a:solidFill>
              <a:srgbClr val="C7D2E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488168" y="28072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88168" y="2807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82980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21240" y="15544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 &amp; Evaluation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21240" y="188366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70" dirty="0">
                <a:solidFill>
                  <a:srgbClr val="5A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testing, fraud-detection accuracy evaluation, final report.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10744200" y="2560320"/>
            <a:ext cx="0" cy="502920"/>
          </a:xfrm>
          <a:prstGeom prst="line">
            <a:avLst/>
          </a:prstGeom>
          <a:noFill/>
          <a:ln w="15875">
            <a:solidFill>
              <a:srgbClr val="C7D2E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Outcomes, Advantages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9844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92608" cy="292608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6" name="Text 4"/>
          <p:cNvSpPr/>
          <p:nvPr/>
        </p:nvSpPr>
        <p:spPr>
          <a:xfrm>
            <a:off x="731520" y="17373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0992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 testnet dApp — wallet login, staking, skill-based games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92608" cy="292608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9" name="Text 7"/>
          <p:cNvSpPr/>
          <p:nvPr/>
        </p:nvSpPr>
        <p:spPr>
          <a:xfrm>
            <a:off x="731520" y="24231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239572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move-to-earn app prototype with sensor data capture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292608" cy="292608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2" name="Text 10"/>
          <p:cNvSpPr/>
          <p:nvPr/>
        </p:nvSpPr>
        <p:spPr>
          <a:xfrm>
            <a:off x="731520" y="31089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308152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fraud-detection model with measured accuracy vs. baselines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292608" cy="292608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5" name="Text 13"/>
          <p:cNvSpPr/>
          <p:nvPr/>
        </p:nvSpPr>
        <p:spPr>
          <a:xfrm>
            <a:off x="731520" y="37947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376732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Hyperledger Fabric audit ledger for tamper-proof logging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292608" cy="292608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8" name="Text 16"/>
          <p:cNvSpPr/>
          <p:nvPr/>
        </p:nvSpPr>
        <p:spPr>
          <a:xfrm>
            <a:off x="731520" y="44805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445312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dashboard for balances, results, and fraud flags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45352" y="10972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9672" y="12801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ADVANTAGES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19672" y="16276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Fraud-resistant via dual-signal (physical + on-chain) AI verification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19672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Sustainable dual-token economy with engineered spending sinks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519672" y="2432304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Transparent, on-chain, publicly verifiable revenue model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519672" y="2834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Gasless, accessible onboarding via account abstraction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45352" y="3520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B"/>
          </a:solidFill>
          <a:ln w="12700">
            <a:solidFill>
              <a:srgbClr val="D7E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3703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19672" y="4041648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Mainnet migration following a formal smart-contract security audit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519672" y="4480560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Expanded game library and tournament / leaderboard formats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519672" y="4919472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Additional wearable sensor integrations beyond phone sensors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519672" y="5358384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Publishing the cross-modal fraud-detection approach as a research contribution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Kinesis  |  Capstone-I Project Acceptance Review  |  Dept. of CSE (IoT &amp; Cyber Security incl. Blockchain Technology)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7376</Words>
  <Application>WPS Presentation</Application>
  <PresentationFormat>On-screen Show (16:9)</PresentationFormat>
  <Paragraphs>300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Samuel Vijay</cp:lastModifiedBy>
  <cp:revision>2</cp:revision>
  <dcterms:created xsi:type="dcterms:W3CDTF">2026-08-12T18:05:00Z</dcterms:created>
  <dcterms:modified xsi:type="dcterms:W3CDTF">2026-08-12T18:11:57Z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1A64C00696444BBD96AB0D99CC3D8370_12</vt:lpwstr>
  </property>
</Properties>
</file>